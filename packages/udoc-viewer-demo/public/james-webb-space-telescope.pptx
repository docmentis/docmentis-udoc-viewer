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7"/>
  </p:normalViewPr>
  <p:slideViewPr>
    <p:cSldViewPr snapToGrid="0" snapToObjects="1">
      <p:cViewPr varScale="1">
        <p:scale>
          <a:sx n="147" d="100"/>
          <a:sy n="147" d="100"/>
        </p:scale>
        <p:origin x="208" y="15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6858000" y="-2743200"/>
            <a:ext cx="8229600" cy="8229600"/>
          </a:xfrm>
          <a:prstGeom prst="ellipse">
            <a:avLst/>
          </a:prstGeom>
          <a:solidFill>
            <a:srgbClr val="1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229600" y="-914400"/>
            <a:ext cx="5486400" cy="5486400"/>
          </a:xfrm>
          <a:prstGeom prst="ellipse">
            <a:avLst/>
          </a:prstGeom>
          <a:solidFill>
            <a:srgbClr val="1C2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2743200" y="3200400"/>
            <a:ext cx="6400800" cy="6400800"/>
          </a:xfrm>
          <a:prstGeom prst="ellipse">
            <a:avLst/>
          </a:prstGeom>
          <a:solidFill>
            <a:srgbClr val="121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058400" y="-1097280"/>
            <a:ext cx="3200400" cy="3200400"/>
          </a:xfrm>
          <a:prstGeom prst="ellipse">
            <a:avLst/>
          </a:prstGeom>
          <a:solidFill>
            <a:srgbClr val="1A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-914400" y="5029200"/>
            <a:ext cx="2286000" cy="2286000"/>
          </a:xfrm>
          <a:prstGeom prst="ellipse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2286000" y="365760"/>
            <a:ext cx="73152" cy="73152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326880" y="1005840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772400" y="548640"/>
            <a:ext cx="45720" cy="45720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789920" y="2103120"/>
            <a:ext cx="64008" cy="64008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14400" y="5943600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972800" y="5486400"/>
            <a:ext cx="45720" cy="45720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029200" y="27432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29600" y="6217920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097280" y="2194560"/>
            <a:ext cx="109728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9728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A623"/>
                </a:solidFill>
                <a:latin typeface="Roboto"/>
              </a:rPr>
              <a:t>NASA  ·  ESA  ·  CSA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246888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Roboto"/>
              </a:rPr>
              <a:t>James Webb
Space Telescope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2062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94A3B8"/>
                </a:solidFill>
                <a:latin typeface="Roboto"/>
              </a:rPr>
              <a:t>Unveiling the Universe in Infrared
The most powerful space telescope ever built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0" y="5486400"/>
            <a:ext cx="2011680" cy="777240"/>
          </a:xfrm>
          <a:prstGeom prst="roundRect">
            <a:avLst/>
          </a:prstGeom>
          <a:solidFill>
            <a:srgbClr val="141C36"/>
          </a:solidFill>
          <a:ln w="12700">
            <a:solidFill>
              <a:srgbClr val="22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34440" y="55321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1" dirty="0">
                <a:solidFill>
                  <a:srgbClr val="FBBF24"/>
                </a:solidFill>
                <a:latin typeface="Roboto"/>
              </a:rPr>
              <a:t>~</a:t>
            </a:r>
            <a:r>
              <a:rPr sz="1800" b="1" dirty="0">
                <a:solidFill>
                  <a:srgbClr val="FBBF24"/>
                </a:solidFill>
                <a:latin typeface="Roboto"/>
              </a:rPr>
              <a:t>1.5M km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58978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Roboto"/>
              </a:rPr>
              <a:t>from Earth (L2)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74720" y="5486400"/>
            <a:ext cx="2011680" cy="777240"/>
          </a:xfrm>
          <a:prstGeom prst="roundRect">
            <a:avLst/>
          </a:prstGeom>
          <a:solidFill>
            <a:srgbClr val="141C36"/>
          </a:solidFill>
          <a:ln w="12700">
            <a:solidFill>
              <a:srgbClr val="22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11880" y="55321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BBF24"/>
                </a:solidFill>
                <a:latin typeface="Roboto"/>
              </a:rPr>
              <a:t>6.5m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58978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Roboto"/>
              </a:rPr>
              <a:t>primary mirror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52160" y="5486400"/>
            <a:ext cx="2011680" cy="777240"/>
          </a:xfrm>
          <a:prstGeom prst="roundRect">
            <a:avLst/>
          </a:prstGeom>
          <a:solidFill>
            <a:srgbClr val="141C36"/>
          </a:solidFill>
          <a:ln w="12700">
            <a:solidFill>
              <a:srgbClr val="22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89320" y="55321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BBF24"/>
                </a:solidFill>
                <a:latin typeface="Roboto"/>
              </a:rPr>
              <a:t>$10B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9320" y="58978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Roboto"/>
              </a:rPr>
              <a:t>total cost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0" y="5486400"/>
            <a:ext cx="2011680" cy="777240"/>
          </a:xfrm>
          <a:prstGeom prst="roundRect">
            <a:avLst/>
          </a:prstGeom>
          <a:solidFill>
            <a:srgbClr val="141C36"/>
          </a:solidFill>
          <a:ln w="12700">
            <a:solidFill>
              <a:srgbClr val="22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66760" y="55321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BBF24"/>
                </a:solidFill>
                <a:latin typeface="Roboto"/>
              </a:rPr>
              <a:t>Dec 2021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58978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Roboto"/>
              </a:rPr>
              <a:t>launch date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3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058400" y="-1097280"/>
            <a:ext cx="3200400" cy="3200400"/>
          </a:xfrm>
          <a:prstGeom prst="ellipse">
            <a:avLst/>
          </a:prstGeom>
          <a:solidFill>
            <a:srgbClr val="1A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914400" y="5029200"/>
            <a:ext cx="2286000" cy="2286000"/>
          </a:xfrm>
          <a:prstGeom prst="ellipse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2286000" y="365760"/>
            <a:ext cx="73152" cy="73152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326880" y="1005840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772400" y="548640"/>
            <a:ext cx="45720" cy="45720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789920" y="2103120"/>
            <a:ext cx="64008" cy="64008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14400" y="5943600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972800" y="5486400"/>
            <a:ext cx="45720" cy="45720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029200" y="27432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229600" y="6217920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731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A623"/>
                </a:solidFill>
                <a:latin typeface="Roboto"/>
              </a:rPr>
              <a:t>MISSION 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188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Roboto"/>
              </a:rPr>
              <a:t>A New Eye on the Universe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01168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Roboto"/>
              </a:rPr>
              <a:t>The James Webb Space Telescope (JWST) is a space-based infrared observatory that launched on December 25, 2021. It is the largest and most complex space science telescope ever built, designed to answer fundamental questions about the cosmos.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291840"/>
            <a:ext cx="2514600" cy="2743200"/>
          </a:xfrm>
          <a:prstGeom prst="roundRect">
            <a:avLst/>
          </a:prstGeom>
          <a:solidFill>
            <a:srgbClr val="141C36"/>
          </a:solidFill>
          <a:ln w="12700">
            <a:solidFill>
              <a:srgbClr val="22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188720" y="3611880"/>
            <a:ext cx="411480" cy="4114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88720" y="363931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Roboto"/>
              </a:rPr>
              <a:t>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206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Roboto"/>
              </a:rPr>
              <a:t>First Light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66344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Roboto"/>
              </a:rPr>
              <a:t>Observe the first galaxies
that formed after the Big Bang,
over 13.5 billion years ago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0" y="3291840"/>
            <a:ext cx="2514600" cy="2743200"/>
          </a:xfrm>
          <a:prstGeom prst="roundRect">
            <a:avLst/>
          </a:prstGeom>
          <a:solidFill>
            <a:srgbClr val="141C36"/>
          </a:solidFill>
          <a:ln w="12700">
            <a:solidFill>
              <a:srgbClr val="22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3931920" y="3611880"/>
            <a:ext cx="411480" cy="41148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931920" y="363931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Roboto"/>
              </a:rPr>
              <a:t>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4206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Roboto"/>
              </a:rPr>
              <a:t>Star Formation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466344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Roboto"/>
              </a:rPr>
              <a:t>Peer through dust clouds to
witness stars and planetary
systems being born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3291840"/>
            <a:ext cx="2514600" cy="2743200"/>
          </a:xfrm>
          <a:prstGeom prst="roundRect">
            <a:avLst/>
          </a:prstGeom>
          <a:solidFill>
            <a:srgbClr val="141C36"/>
          </a:solidFill>
          <a:ln w="12700">
            <a:solidFill>
              <a:srgbClr val="22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675120" y="3611880"/>
            <a:ext cx="411480" cy="4114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675120" y="363931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Roboto"/>
              </a:rPr>
              <a:t>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206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Roboto"/>
              </a:rPr>
              <a:t>Exoplanets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466344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Roboto"/>
              </a:rPr>
              <a:t>Analyze atmospheres of
distant worlds to search for
signs of habitability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0" y="3291840"/>
            <a:ext cx="2514600" cy="2743200"/>
          </a:xfrm>
          <a:prstGeom prst="roundRect">
            <a:avLst/>
          </a:prstGeom>
          <a:solidFill>
            <a:srgbClr val="141C36"/>
          </a:solidFill>
          <a:ln w="12700">
            <a:solidFill>
              <a:srgbClr val="22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9418320" y="3611880"/>
            <a:ext cx="411480" cy="4114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418320" y="3639312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Roboto"/>
              </a:rPr>
              <a:t>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8320" y="4206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Roboto"/>
              </a:rPr>
              <a:t>Solar System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0" y="4663440"/>
            <a:ext cx="2011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Roboto"/>
              </a:rPr>
              <a:t>Study planets, moons, and
small bodies in our own
cosmic neighborhood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3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058400" y="-1097280"/>
            <a:ext cx="3200400" cy="3200400"/>
          </a:xfrm>
          <a:prstGeom prst="ellipse">
            <a:avLst/>
          </a:prstGeom>
          <a:solidFill>
            <a:srgbClr val="1A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914400" y="5029200"/>
            <a:ext cx="2286000" cy="2286000"/>
          </a:xfrm>
          <a:prstGeom prst="ellipse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2286000" y="365760"/>
            <a:ext cx="73152" cy="73152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326880" y="1005840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772400" y="548640"/>
            <a:ext cx="45720" cy="45720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789920" y="2103120"/>
            <a:ext cx="64008" cy="64008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14400" y="5943600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972800" y="5486400"/>
            <a:ext cx="45720" cy="45720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029200" y="27432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229600" y="6217920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731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A623"/>
                </a:solidFill>
                <a:latin typeface="Roboto"/>
              </a:rPr>
              <a:t>TECHNICAL SPECIFICATIONS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188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Roboto"/>
              </a:rPr>
              <a:t>Engineering at the Edge of Possibility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286000"/>
            <a:ext cx="2606040" cy="1828800"/>
          </a:xfrm>
          <a:prstGeom prst="roundRect">
            <a:avLst/>
          </a:prstGeom>
          <a:solidFill>
            <a:srgbClr val="141C36"/>
          </a:solidFill>
          <a:ln w="12700">
            <a:solidFill>
              <a:srgbClr val="22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71520" y="2326000"/>
            <a:ext cx="2423160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2514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Roboto"/>
              </a:rPr>
              <a:t>Primary Mirror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788920"/>
            <a:ext cx="228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5A623"/>
                </a:solidFill>
                <a:latin typeface="Roboto"/>
              </a:rPr>
              <a:t>6.5 meters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3375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Roboto"/>
              </a:rPr>
              <a:t>18 gold-coated beryllium
hexagonal segments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66160" y="2286000"/>
            <a:ext cx="2606040" cy="1828800"/>
          </a:xfrm>
          <a:prstGeom prst="roundRect">
            <a:avLst/>
          </a:prstGeom>
          <a:solidFill>
            <a:srgbClr val="141C36"/>
          </a:solidFill>
          <a:ln w="12700">
            <a:solidFill>
              <a:srgbClr val="22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06160" y="2326000"/>
            <a:ext cx="2423160" cy="45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749040" y="2514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Roboto"/>
              </a:rPr>
              <a:t>Sunshield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40" y="2788920"/>
            <a:ext cx="228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97316"/>
                </a:solidFill>
                <a:latin typeface="Roboto"/>
              </a:rPr>
              <a:t>22 × 12 meters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40" y="33375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Roboto"/>
              </a:rPr>
              <a:t>5 layers of kapton, each
as thin as a human hair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2286000"/>
            <a:ext cx="2606040" cy="1828800"/>
          </a:xfrm>
          <a:prstGeom prst="roundRect">
            <a:avLst/>
          </a:prstGeom>
          <a:solidFill>
            <a:srgbClr val="141C36"/>
          </a:solidFill>
          <a:ln w="12700">
            <a:solidFill>
              <a:srgbClr val="22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40800" y="2326000"/>
            <a:ext cx="2423160" cy="45720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83680" y="2514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Roboto"/>
              </a:rPr>
              <a:t>Operating Temp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2788920"/>
            <a:ext cx="228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93C5FD"/>
                </a:solidFill>
                <a:latin typeface="Roboto"/>
              </a:rPr>
              <a:t>−33 K (−240°C)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33375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Roboto"/>
              </a:rPr>
              <a:t>Colder than any natural
place in our solar system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35440" y="2286000"/>
            <a:ext cx="2606040" cy="1828800"/>
          </a:xfrm>
          <a:prstGeom prst="roundRect">
            <a:avLst/>
          </a:prstGeom>
          <a:solidFill>
            <a:srgbClr val="141C36"/>
          </a:solidFill>
          <a:ln w="12700">
            <a:solidFill>
              <a:srgbClr val="22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275440" y="2326000"/>
            <a:ext cx="2423160" cy="45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418320" y="2514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Roboto"/>
              </a:rPr>
              <a:t>Orbit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19" y="2788920"/>
            <a:ext cx="242315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dirty="0">
                <a:solidFill>
                  <a:srgbClr val="3B82F6"/>
                </a:solidFill>
                <a:latin typeface="Roboto"/>
              </a:rPr>
              <a:t>L2 Lagrange Point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8320" y="33375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94A3B8"/>
                </a:solidFill>
                <a:latin typeface="Roboto"/>
              </a:rPr>
              <a:t>1.5 million km from Earth,
always in Earth’s shadow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4389120"/>
            <a:ext cx="2606040" cy="1828800"/>
          </a:xfrm>
          <a:prstGeom prst="roundRect">
            <a:avLst/>
          </a:prstGeom>
          <a:solidFill>
            <a:srgbClr val="141C36"/>
          </a:solidFill>
          <a:ln w="12700">
            <a:solidFill>
              <a:srgbClr val="22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71520" y="4429120"/>
            <a:ext cx="2423160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14400" y="4617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Roboto"/>
              </a:rPr>
              <a:t>Mass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4892040"/>
            <a:ext cx="228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7C3AED"/>
                </a:solidFill>
                <a:latin typeface="Roboto"/>
              </a:rPr>
              <a:t>6,161 kg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54406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Roboto"/>
              </a:rPr>
              <a:t>About the weight of
a school bus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566160" y="4389120"/>
            <a:ext cx="2606040" cy="1828800"/>
          </a:xfrm>
          <a:prstGeom prst="roundRect">
            <a:avLst/>
          </a:prstGeom>
          <a:solidFill>
            <a:srgbClr val="141C36"/>
          </a:solidFill>
          <a:ln w="12700">
            <a:solidFill>
              <a:srgbClr val="22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3606160" y="4429120"/>
            <a:ext cx="2423160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749040" y="4617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Roboto"/>
              </a:rPr>
              <a:t>Wavelength Range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49040" y="4892040"/>
            <a:ext cx="228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F4444"/>
                </a:solidFill>
                <a:latin typeface="Roboto"/>
              </a:rPr>
              <a:t>0.6 – 28.3 μm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49040" y="54406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Roboto"/>
              </a:rPr>
              <a:t>Near-infrared to
mid-infrared spectrum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0" y="4389120"/>
            <a:ext cx="2606040" cy="1828800"/>
          </a:xfrm>
          <a:prstGeom prst="roundRect">
            <a:avLst/>
          </a:prstGeom>
          <a:solidFill>
            <a:srgbClr val="141C36"/>
          </a:solidFill>
          <a:ln w="12700">
            <a:solidFill>
              <a:srgbClr val="22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6440800" y="4429120"/>
            <a:ext cx="2423160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583680" y="4617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Roboto"/>
              </a:rPr>
              <a:t>Data Rate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0" y="4892040"/>
            <a:ext cx="228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0B981"/>
                </a:solidFill>
                <a:latin typeface="Roboto"/>
              </a:rPr>
              <a:t>28.6 Gbits/day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0" y="54406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Roboto"/>
              </a:rPr>
              <a:t>Transmitted via Ka-band
to Deep Space Network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235440" y="4389120"/>
            <a:ext cx="2606040" cy="1828800"/>
          </a:xfrm>
          <a:prstGeom prst="roundRect">
            <a:avLst/>
          </a:prstGeom>
          <a:solidFill>
            <a:srgbClr val="141C36"/>
          </a:solidFill>
          <a:ln w="12700">
            <a:solidFill>
              <a:srgbClr val="22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9275440" y="4429120"/>
            <a:ext cx="2423160" cy="45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418320" y="4617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4748B"/>
                </a:solidFill>
                <a:latin typeface="Roboto"/>
              </a:rPr>
              <a:t>Design Life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418320" y="4892040"/>
            <a:ext cx="228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BBF24"/>
                </a:solidFill>
                <a:latin typeface="Roboto"/>
              </a:rPr>
              <a:t>10+ years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18320" y="54406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Roboto"/>
              </a:rPr>
              <a:t>Fuel for 20+ years of
orbital station-keeping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3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058400" y="-1097280"/>
            <a:ext cx="3200400" cy="3200400"/>
          </a:xfrm>
          <a:prstGeom prst="ellipse">
            <a:avLst/>
          </a:prstGeom>
          <a:solidFill>
            <a:srgbClr val="1A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914400" y="5029200"/>
            <a:ext cx="2286000" cy="2286000"/>
          </a:xfrm>
          <a:prstGeom prst="ellipse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2286000" y="365760"/>
            <a:ext cx="73152" cy="73152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326880" y="1005840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772400" y="548640"/>
            <a:ext cx="45720" cy="45720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789920" y="2103120"/>
            <a:ext cx="64008" cy="64008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14400" y="5943600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972800" y="5486400"/>
            <a:ext cx="45720" cy="45720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029200" y="27432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229600" y="6217920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731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A623"/>
                </a:solidFill>
                <a:latin typeface="Roboto"/>
              </a:rPr>
              <a:t>SCIENCE INSTRUMENTS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188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Roboto"/>
              </a:rPr>
              <a:t>Four Instruments, One Observatory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0116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Roboto"/>
              </a:rPr>
              <a:t>Each instrument is optimized for a different aspect of infrared astronomy.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743200"/>
            <a:ext cx="2606040" cy="3657600"/>
          </a:xfrm>
          <a:prstGeom prst="roundRect">
            <a:avLst/>
          </a:prstGeom>
          <a:solidFill>
            <a:srgbClr val="141C36"/>
          </a:solidFill>
          <a:ln w="12700">
            <a:solidFill>
              <a:srgbClr val="22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14400" y="2971800"/>
            <a:ext cx="1280160" cy="41148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299923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Roboto"/>
              </a:rPr>
              <a:t>NIRCam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566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Roboto"/>
              </a:rPr>
              <a:t>Near-Infrared Camera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97764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Roboto"/>
              </a:rPr>
              <a:t>Primary imager covering 0.6–5 μm.
Provides Webb’s iconic deep-field
images and detects the earliest
galaxies in the universe.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852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Roboto"/>
              </a:rPr>
              <a:t>University of Arizona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66160" y="2743200"/>
            <a:ext cx="2606040" cy="3657600"/>
          </a:xfrm>
          <a:prstGeom prst="roundRect">
            <a:avLst/>
          </a:prstGeom>
          <a:solidFill>
            <a:srgbClr val="141C36"/>
          </a:solidFill>
          <a:ln w="12700">
            <a:solidFill>
              <a:srgbClr val="22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749040" y="2971800"/>
            <a:ext cx="1280160" cy="4114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749040" y="299923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Roboto"/>
              </a:rPr>
              <a:t>NIRSpec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40" y="3566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Roboto"/>
              </a:rPr>
              <a:t>Near-Infrared Spectrograph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40" y="397764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Roboto"/>
              </a:rPr>
              <a:t>Multi-object spectrograph that can
observe 100+ objects simultaneously.
Reveals chemical compositions of
distant galaxies and exoplanet atmospheres.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40" y="5852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Roboto"/>
              </a:rPr>
              <a:t>ESA / Airbus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2743200"/>
            <a:ext cx="2606040" cy="3657600"/>
          </a:xfrm>
          <a:prstGeom prst="roundRect">
            <a:avLst/>
          </a:prstGeom>
          <a:solidFill>
            <a:srgbClr val="141C36"/>
          </a:solidFill>
          <a:ln w="12700">
            <a:solidFill>
              <a:srgbClr val="22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583680" y="2971800"/>
            <a:ext cx="1280160" cy="41148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83680" y="299923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Roboto"/>
              </a:rPr>
              <a:t>MIRI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3566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Roboto"/>
              </a:rPr>
              <a:t>Mid-Infrared Instrument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397764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Roboto"/>
              </a:rPr>
              <a:t>Combined camera and spectrograph
for 5–28 μm. Detects redshifted light
from the earliest galaxies and
newly forming stars in dust clouds.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5852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Roboto"/>
              </a:rPr>
              <a:t>ESA / JPL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35440" y="2743200"/>
            <a:ext cx="2606040" cy="3657600"/>
          </a:xfrm>
          <a:prstGeom prst="roundRect">
            <a:avLst/>
          </a:prstGeom>
          <a:solidFill>
            <a:srgbClr val="141C36"/>
          </a:solidFill>
          <a:ln w="12700">
            <a:solidFill>
              <a:srgbClr val="22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9418320" y="2971800"/>
            <a:ext cx="1280160" cy="4114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418320" y="299923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Roboto"/>
              </a:rPr>
              <a:t>FGS/NIRISS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0" y="3566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Roboto"/>
              </a:rPr>
              <a:t>Fine Guidance / Imager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18320" y="397764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Roboto"/>
              </a:rPr>
              <a:t>Provides precision pointing and
slitless spectroscopy. Specializes in
exoplanet transit observations and
first-light galaxy detection.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8320" y="5852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Roboto"/>
              </a:rPr>
              <a:t>CSA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3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058400" y="-1097280"/>
            <a:ext cx="3200400" cy="3200400"/>
          </a:xfrm>
          <a:prstGeom prst="ellipse">
            <a:avLst/>
          </a:prstGeom>
          <a:solidFill>
            <a:srgbClr val="1A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914400" y="5029200"/>
            <a:ext cx="2286000" cy="2286000"/>
          </a:xfrm>
          <a:prstGeom prst="ellipse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2286000" y="365760"/>
            <a:ext cx="73152" cy="73152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326880" y="1005840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772400" y="548640"/>
            <a:ext cx="45720" cy="45720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789920" y="2103120"/>
            <a:ext cx="64008" cy="64008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14400" y="5943600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972800" y="5486400"/>
            <a:ext cx="45720" cy="45720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029200" y="27432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229600" y="6217920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731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A623"/>
                </a:solidFill>
                <a:latin typeface="Roboto"/>
              </a:rPr>
              <a:t>GROUNDBREAKING DISCOVERIES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188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Roboto"/>
              </a:rPr>
              <a:t>Rewriting Astronomy Textbooks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194560"/>
            <a:ext cx="3429000" cy="1965960"/>
          </a:xfrm>
          <a:prstGeom prst="roundRect">
            <a:avLst/>
          </a:prstGeom>
          <a:solidFill>
            <a:srgbClr val="141C36"/>
          </a:solidFill>
          <a:ln w="12700">
            <a:solidFill>
              <a:srgbClr val="22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61520" y="2377440"/>
            <a:ext cx="45720" cy="1600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5840" y="23317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Roboto"/>
              </a:rPr>
              <a:t>Earliest Galaxies Ever Seen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69748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Roboto"/>
              </a:rPr>
              <a:t>JWST detected galaxies from just 300 million years after the Big Bang — far earlier and brighter than models predicted, challenging theories of galaxy formation.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37490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5A623"/>
                </a:solidFill>
                <a:latin typeface="Roboto"/>
              </a:rPr>
              <a:t>JADES-GS-z14-0 · z ≈ 14.3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2194560"/>
            <a:ext cx="3429000" cy="1965960"/>
          </a:xfrm>
          <a:prstGeom prst="roundRect">
            <a:avLst/>
          </a:prstGeom>
          <a:solidFill>
            <a:srgbClr val="141C36"/>
          </a:solidFill>
          <a:ln w="12700">
            <a:solidFill>
              <a:srgbClr val="22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419120" y="2377440"/>
            <a:ext cx="45720" cy="1600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663440" y="23317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Roboto"/>
              </a:rPr>
              <a:t>Water on an Exoplanet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269748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Roboto"/>
              </a:rPr>
              <a:t>First definitive detection of CO₂ and water vapor in the atmosphere of exoplanet WASP-39b, opening a new era of atmospheric characterization.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37490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B82F6"/>
                </a:solidFill>
                <a:latin typeface="Roboto"/>
              </a:rPr>
              <a:t>WASP-39b · 700 light-years away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2194560"/>
            <a:ext cx="3429000" cy="1965960"/>
          </a:xfrm>
          <a:prstGeom prst="roundRect">
            <a:avLst/>
          </a:prstGeom>
          <a:solidFill>
            <a:srgbClr val="141C36"/>
          </a:solidFill>
          <a:ln w="12700">
            <a:solidFill>
              <a:srgbClr val="22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76720" y="2377440"/>
            <a:ext cx="45720" cy="16002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21040" y="23317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Roboto"/>
              </a:rPr>
              <a:t>Cosmic Cliffs in Detail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269748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Roboto"/>
              </a:rPr>
              <a:t>Revealed hundreds of previously hidden newborn stars in the Carina Nebula — some never seen before — providing unprecedented views of star formation.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374904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C3AED"/>
                </a:solidFill>
                <a:latin typeface="Roboto"/>
              </a:rPr>
              <a:t>NGC 3324 · Carina Nebula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4389120"/>
            <a:ext cx="3429000" cy="1965960"/>
          </a:xfrm>
          <a:prstGeom prst="roundRect">
            <a:avLst/>
          </a:prstGeom>
          <a:solidFill>
            <a:srgbClr val="141C36"/>
          </a:solidFill>
          <a:ln w="12700">
            <a:solidFill>
              <a:srgbClr val="22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61520" y="4572000"/>
            <a:ext cx="45720" cy="1600200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05840" y="45262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Roboto"/>
              </a:rPr>
              <a:t>Rings of Neptune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489204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Roboto"/>
              </a:rPr>
              <a:t>Captured the clearest view of Neptune’s rings in over 30 years, plus seven of its 16 known moons. The ice giant shines with surprising brightness in infrared.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59436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93C5FD"/>
                </a:solidFill>
                <a:latin typeface="Roboto"/>
              </a:rPr>
              <a:t>Neptune · 4.3 billion km away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89120" y="4389120"/>
            <a:ext cx="3429000" cy="1965960"/>
          </a:xfrm>
          <a:prstGeom prst="roundRect">
            <a:avLst/>
          </a:prstGeom>
          <a:solidFill>
            <a:srgbClr val="141C36"/>
          </a:solidFill>
          <a:ln w="12700">
            <a:solidFill>
              <a:srgbClr val="22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4419120" y="4572000"/>
            <a:ext cx="45720" cy="1600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663440" y="45262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Roboto"/>
              </a:rPr>
              <a:t>Organic Molecules in Space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63440" y="489204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Roboto"/>
              </a:rPr>
              <a:t>Discovered complex carbon-based molecules in a protoplanetary disk around a young star, offering clues about the chemical origins of life.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63440" y="59436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0B981"/>
                </a:solidFill>
                <a:latin typeface="Roboto"/>
              </a:rPr>
              <a:t>d203-506 · Orion Nebula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046720" y="4389120"/>
            <a:ext cx="3429000" cy="1965960"/>
          </a:xfrm>
          <a:prstGeom prst="roundRect">
            <a:avLst/>
          </a:prstGeom>
          <a:solidFill>
            <a:srgbClr val="141C36"/>
          </a:solidFill>
          <a:ln w="12700">
            <a:solidFill>
              <a:srgbClr val="22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8076720" y="4572000"/>
            <a:ext cx="45720" cy="16002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321040" y="452628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Roboto"/>
              </a:rPr>
              <a:t>Supermassive Black Holes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489204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Roboto"/>
              </a:rPr>
              <a:t>Found unexpectedly massive black holes in the early universe, some exceeding a billion solar masses within the first 600 million years after the Big Bang.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59436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EF4444"/>
                </a:solidFill>
                <a:latin typeface="Roboto"/>
              </a:rPr>
              <a:t>Multiple targets · z &gt;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3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058400" y="-1097280"/>
            <a:ext cx="3200400" cy="3200400"/>
          </a:xfrm>
          <a:prstGeom prst="ellipse">
            <a:avLst/>
          </a:prstGeom>
          <a:solidFill>
            <a:srgbClr val="1A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914400" y="5029200"/>
            <a:ext cx="2286000" cy="2286000"/>
          </a:xfrm>
          <a:prstGeom prst="ellipse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2286000" y="365760"/>
            <a:ext cx="73152" cy="73152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326880" y="1005840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772400" y="548640"/>
            <a:ext cx="45720" cy="45720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789920" y="2103120"/>
            <a:ext cx="64008" cy="64008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14400" y="5943600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972800" y="5486400"/>
            <a:ext cx="45720" cy="45720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029200" y="27432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229600" y="6217920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731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A623"/>
                </a:solidFill>
                <a:latin typeface="Roboto"/>
              </a:rPr>
              <a:t>COMPARISON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188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Roboto"/>
              </a:rPr>
              <a:t>Webb vs. Hubble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19202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4A3B8"/>
                </a:solidFill>
                <a:latin typeface="Roboto"/>
              </a:rPr>
              <a:t>Not a replacement — a successor. Webb sees in infrared where Hubble sees in visible light.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2651760"/>
            <a:ext cx="10058400" cy="502920"/>
          </a:xfrm>
          <a:prstGeom prst="roundRect">
            <a:avLst/>
          </a:prstGeom>
          <a:solidFill>
            <a:srgbClr val="1A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371600" y="272491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4748B"/>
                </a:solidFill>
                <a:latin typeface="Roboto"/>
              </a:rPr>
              <a:t>Specification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72491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5A623"/>
                </a:solidFill>
                <a:latin typeface="Roboto"/>
              </a:rPr>
              <a:t>James Webb (JWST)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272491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93C5FD"/>
                </a:solidFill>
                <a:latin typeface="Roboto"/>
              </a:rPr>
              <a:t>Hubble (HST)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97280" y="3200400"/>
            <a:ext cx="10058400" cy="420624"/>
          </a:xfrm>
          <a:prstGeom prst="rect">
            <a:avLst/>
          </a:prstGeom>
          <a:solidFill>
            <a:srgbClr val="14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371600" y="325526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2E8F0"/>
                </a:solidFill>
                <a:latin typeface="Roboto"/>
              </a:rPr>
              <a:t>Primary Mirror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325526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BBF24"/>
                </a:solidFill>
                <a:latin typeface="Roboto"/>
              </a:rPr>
              <a:t>6.5 m (18 segments)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325526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3C5FD"/>
                </a:solidFill>
                <a:latin typeface="Roboto"/>
              </a:rPr>
              <a:t>2.4 m (monolithic)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97280" y="3639312"/>
            <a:ext cx="10058400" cy="420624"/>
          </a:xfrm>
          <a:prstGeom prst="rect">
            <a:avLst/>
          </a:prstGeom>
          <a:solidFill>
            <a:srgbClr val="0F1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371600" y="369417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2E8F0"/>
                </a:solidFill>
                <a:latin typeface="Roboto"/>
              </a:rPr>
              <a:t>Wavelength Range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369417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BBF24"/>
                </a:solidFill>
                <a:latin typeface="Roboto"/>
              </a:rPr>
              <a:t>0.6 – 28.3 μm (infrared)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369417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3C5FD"/>
                </a:solidFill>
                <a:latin typeface="Roboto"/>
              </a:rPr>
              <a:t>0.1 – 2.5 μm (UV/visible/NIR)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97280" y="4078224"/>
            <a:ext cx="10058400" cy="420624"/>
          </a:xfrm>
          <a:prstGeom prst="rect">
            <a:avLst/>
          </a:prstGeom>
          <a:solidFill>
            <a:srgbClr val="14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371600" y="41330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2E8F0"/>
                </a:solidFill>
                <a:latin typeface="Roboto"/>
              </a:rPr>
              <a:t>Orbit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413308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BBF24"/>
                </a:solidFill>
                <a:latin typeface="Roboto"/>
              </a:rPr>
              <a:t>L2, 1.5M km from Earth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0" y="413308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3C5FD"/>
                </a:solidFill>
                <a:latin typeface="Roboto"/>
              </a:rPr>
              <a:t>Low Earth orbit, 547 km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97280" y="4517136"/>
            <a:ext cx="10058400" cy="420624"/>
          </a:xfrm>
          <a:prstGeom prst="rect">
            <a:avLst/>
          </a:prstGeom>
          <a:solidFill>
            <a:srgbClr val="0F1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371600" y="4572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2E8F0"/>
                </a:solidFill>
                <a:latin typeface="Roboto"/>
              </a:rPr>
              <a:t>Sunshield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4572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BBF24"/>
                </a:solidFill>
                <a:latin typeface="Roboto"/>
              </a:rPr>
              <a:t>22 × 12 m, 5 layers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0" y="4572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3C5FD"/>
                </a:solidFill>
                <a:latin typeface="Roboto"/>
              </a:rPr>
              <a:t>None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97280" y="4956048"/>
            <a:ext cx="10058400" cy="420624"/>
          </a:xfrm>
          <a:prstGeom prst="rect">
            <a:avLst/>
          </a:prstGeom>
          <a:solidFill>
            <a:srgbClr val="14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371600" y="501091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2E8F0"/>
                </a:solidFill>
                <a:latin typeface="Roboto"/>
              </a:rPr>
              <a:t>Operating Temp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501091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BBF24"/>
                </a:solidFill>
                <a:latin typeface="Roboto"/>
              </a:rPr>
              <a:t>−33 K (−240°C)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20" y="5010912"/>
            <a:ext cx="32004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dirty="0">
                <a:solidFill>
                  <a:srgbClr val="93C5FD"/>
                </a:solidFill>
                <a:latin typeface="Roboto"/>
              </a:rPr>
              <a:t>~</a:t>
            </a:r>
            <a:r>
              <a:rPr sz="1200" b="0" dirty="0">
                <a:solidFill>
                  <a:srgbClr val="93C5FD"/>
                </a:solidFill>
                <a:latin typeface="Roboto"/>
              </a:rPr>
              <a:t>288 K (15°C)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97280" y="5394960"/>
            <a:ext cx="10058400" cy="420624"/>
          </a:xfrm>
          <a:prstGeom prst="rect">
            <a:avLst/>
          </a:prstGeom>
          <a:solidFill>
            <a:srgbClr val="0F1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371600" y="544982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2E8F0"/>
                </a:solidFill>
                <a:latin typeface="Roboto"/>
              </a:rPr>
              <a:t>Launch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544982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BBF24"/>
                </a:solidFill>
                <a:latin typeface="Roboto"/>
              </a:rPr>
              <a:t>December 25, 2021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46720" y="544982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3C5FD"/>
                </a:solidFill>
                <a:latin typeface="Roboto"/>
              </a:rPr>
              <a:t>April 24, 1990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97280" y="5833872"/>
            <a:ext cx="10058400" cy="420624"/>
          </a:xfrm>
          <a:prstGeom prst="rect">
            <a:avLst/>
          </a:prstGeom>
          <a:solidFill>
            <a:srgbClr val="141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371600" y="588873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2E8F0"/>
                </a:solidFill>
                <a:latin typeface="Roboto"/>
              </a:rPr>
              <a:t>Mass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588873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BBF24"/>
                </a:solidFill>
                <a:latin typeface="Roboto"/>
              </a:rPr>
              <a:t>6,161 kg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46720" y="588873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3C5FD"/>
                </a:solidFill>
                <a:latin typeface="Roboto"/>
              </a:rPr>
              <a:t>11,110 kg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97280" y="6272784"/>
            <a:ext cx="10058400" cy="420624"/>
          </a:xfrm>
          <a:prstGeom prst="rect">
            <a:avLst/>
          </a:prstGeom>
          <a:solidFill>
            <a:srgbClr val="0F13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371600" y="632764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2E8F0"/>
                </a:solidFill>
                <a:latin typeface="Roboto"/>
              </a:rPr>
              <a:t>Collecting Area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0" y="63276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BBF24"/>
                </a:solidFill>
                <a:latin typeface="Roboto"/>
              </a:rPr>
              <a:t>25.4 m²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46720" y="63276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3C5FD"/>
                </a:solidFill>
                <a:latin typeface="Roboto"/>
              </a:rPr>
              <a:t>4.0 m² (6.3× smaller)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3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058400" y="-1097280"/>
            <a:ext cx="3200400" cy="3200400"/>
          </a:xfrm>
          <a:prstGeom prst="ellipse">
            <a:avLst/>
          </a:prstGeom>
          <a:solidFill>
            <a:srgbClr val="1A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914400" y="5029200"/>
            <a:ext cx="2286000" cy="2286000"/>
          </a:xfrm>
          <a:prstGeom prst="ellipse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2286000" y="365760"/>
            <a:ext cx="73152" cy="73152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326880" y="1005840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772400" y="548640"/>
            <a:ext cx="45720" cy="45720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789920" y="2103120"/>
            <a:ext cx="64008" cy="64008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14400" y="5943600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972800" y="5486400"/>
            <a:ext cx="45720" cy="45720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029200" y="27432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229600" y="6217920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731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A623"/>
                </a:solidFill>
                <a:latin typeface="Roboto"/>
              </a:rPr>
              <a:t>MISSION TIMELINE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188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Roboto"/>
              </a:rPr>
              <a:t>From Concept to Cosmos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3474720"/>
            <a:ext cx="9601200" cy="27432"/>
          </a:xfrm>
          <a:prstGeom prst="rect">
            <a:avLst/>
          </a:prstGeom>
          <a:solidFill>
            <a:srgbClr val="22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417320" y="3364992"/>
            <a:ext cx="228600" cy="2286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97280" y="274320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94A3B8"/>
                </a:solidFill>
                <a:latin typeface="Roboto"/>
              </a:rPr>
              <a:t>1996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840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Roboto"/>
              </a:rPr>
              <a:t>Project conceived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25196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Roboto"/>
              </a:rPr>
              <a:t>Named after NASA’s second
administrator, James E. Webb</a:t>
            </a:r>
          </a:p>
        </p:txBody>
      </p:sp>
      <p:sp>
        <p:nvSpPr>
          <p:cNvPr id="19" name="Oval 18"/>
          <p:cNvSpPr/>
          <p:nvPr/>
        </p:nvSpPr>
        <p:spPr>
          <a:xfrm>
            <a:off x="3200400" y="3364992"/>
            <a:ext cx="228600" cy="2286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880360" y="274320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94A3B8"/>
                </a:solidFill>
                <a:latin typeface="Roboto"/>
              </a:rPr>
              <a:t>2004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3840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Roboto"/>
              </a:rPr>
              <a:t>Design finalized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97480" y="425196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Roboto"/>
              </a:rPr>
              <a:t>Primary mirror and sunshield
architecture locked in</a:t>
            </a:r>
          </a:p>
        </p:txBody>
      </p:sp>
      <p:sp>
        <p:nvSpPr>
          <p:cNvPr id="23" name="Oval 22"/>
          <p:cNvSpPr/>
          <p:nvPr/>
        </p:nvSpPr>
        <p:spPr>
          <a:xfrm>
            <a:off x="4983480" y="3364992"/>
            <a:ext cx="228600" cy="228600"/>
          </a:xfrm>
          <a:prstGeom prst="ellipse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63440" y="274320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94A3B8"/>
                </a:solidFill>
                <a:latin typeface="Roboto"/>
              </a:rPr>
              <a:t>2016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3840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Roboto"/>
              </a:rPr>
              <a:t>Assembly complete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425196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Roboto"/>
              </a:rPr>
              <a:t>Full telescope assembled
at Goddard Space Flight Center</a:t>
            </a:r>
          </a:p>
        </p:txBody>
      </p:sp>
      <p:sp>
        <p:nvSpPr>
          <p:cNvPr id="27" name="Oval 26"/>
          <p:cNvSpPr/>
          <p:nvPr/>
        </p:nvSpPr>
        <p:spPr>
          <a:xfrm>
            <a:off x="6766560" y="3364992"/>
            <a:ext cx="228600" cy="228600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46520" y="274320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5A623"/>
                </a:solidFill>
                <a:latin typeface="Roboto"/>
              </a:rPr>
              <a:t>2021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3840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Roboto"/>
              </a:rPr>
              <a:t>Launch day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425196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Roboto"/>
              </a:rPr>
              <a:t>Ariane 5 rocket lifts off
from Kouru, French Guiana</a:t>
            </a:r>
          </a:p>
        </p:txBody>
      </p:sp>
      <p:sp>
        <p:nvSpPr>
          <p:cNvPr id="31" name="Oval 30"/>
          <p:cNvSpPr/>
          <p:nvPr/>
        </p:nvSpPr>
        <p:spPr>
          <a:xfrm>
            <a:off x="8549640" y="3364992"/>
            <a:ext cx="228600" cy="2286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9600" y="274320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B82F6"/>
                </a:solidFill>
                <a:latin typeface="Roboto"/>
              </a:rPr>
              <a:t>2022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0" y="3840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Roboto"/>
              </a:rPr>
              <a:t>First images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0" y="425196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Roboto"/>
              </a:rPr>
              <a:t>Five stunning targets revealed
to the world on July 12</a:t>
            </a:r>
          </a:p>
        </p:txBody>
      </p:sp>
      <p:sp>
        <p:nvSpPr>
          <p:cNvPr id="35" name="Oval 34"/>
          <p:cNvSpPr/>
          <p:nvPr/>
        </p:nvSpPr>
        <p:spPr>
          <a:xfrm>
            <a:off x="10332720" y="3364992"/>
            <a:ext cx="228600" cy="22860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012680" y="274320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0B981"/>
                </a:solidFill>
                <a:latin typeface="Roboto"/>
              </a:rPr>
              <a:t>2024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829800" y="3840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Roboto"/>
              </a:rPr>
              <a:t>1000+ papers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29800" y="4251960"/>
            <a:ext cx="1645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Roboto"/>
              </a:rPr>
              <a:t>Over 1,500 peer-reviewed papers
published using Webb 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3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058400" y="-1097280"/>
            <a:ext cx="3200400" cy="3200400"/>
          </a:xfrm>
          <a:prstGeom prst="ellipse">
            <a:avLst/>
          </a:prstGeom>
          <a:solidFill>
            <a:srgbClr val="1A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914400" y="5029200"/>
            <a:ext cx="2286000" cy="2286000"/>
          </a:xfrm>
          <a:prstGeom prst="ellipse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2286000" y="365760"/>
            <a:ext cx="73152" cy="73152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326880" y="1005840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772400" y="548640"/>
            <a:ext cx="45720" cy="45720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789920" y="2103120"/>
            <a:ext cx="64008" cy="64008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14400" y="5943600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972800" y="5486400"/>
            <a:ext cx="45720" cy="45720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029200" y="27432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229600" y="6217920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731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A623"/>
                </a:solidFill>
                <a:latin typeface="Roboto"/>
              </a:rPr>
              <a:t>ICONIC IMAGES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188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Roboto"/>
              </a:rPr>
              <a:t>A Gallery of Discovery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286000"/>
            <a:ext cx="2606040" cy="3840480"/>
          </a:xfrm>
          <a:prstGeom prst="roundRect">
            <a:avLst/>
          </a:prstGeom>
          <a:solidFill>
            <a:srgbClr val="2D1B4E"/>
          </a:solidFill>
          <a:ln w="12700">
            <a:solidFill>
              <a:srgbClr val="22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68680" y="2423160"/>
            <a:ext cx="2331720" cy="1463040"/>
          </a:xfrm>
          <a:prstGeom prst="roundRect">
            <a:avLst/>
          </a:prstGeom>
          <a:solidFill>
            <a:srgbClr val="2D1B4E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2803410"/>
            <a:ext cx="214884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 dirty="0">
                <a:solidFill>
                  <a:srgbClr val="C084FC"/>
                </a:solidFill>
                <a:latin typeface="Roboto"/>
              </a:rPr>
              <a:t> Carina Nebula</a:t>
            </a:r>
            <a:endParaRPr lang="en-US" sz="2000" b="0" dirty="0">
              <a:solidFill>
                <a:srgbClr val="C084FC"/>
              </a:solidFill>
              <a:latin typeface="Roboto"/>
            </a:endParaRPr>
          </a:p>
          <a:p>
            <a:pPr algn="ctr"/>
            <a:r>
              <a:rPr sz="2000" b="0" dirty="0">
                <a:solidFill>
                  <a:srgbClr val="C084FC"/>
                </a:solidFill>
                <a:latin typeface="Roboto"/>
              </a:rPr>
              <a:t>(NGC 3324)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114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Roboto"/>
              </a:rPr>
              <a:t>Cosmic Cliffs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57200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Roboto"/>
              </a:rPr>
              <a:t>Mountains of gas and dust
7,600 light-years away.
Newborn stars blaze through
stellar nurseries.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566160" y="2286000"/>
            <a:ext cx="2606040" cy="3840480"/>
          </a:xfrm>
          <a:prstGeom prst="roundRect">
            <a:avLst/>
          </a:prstGeom>
          <a:solidFill>
            <a:srgbClr val="3D2B14"/>
          </a:solidFill>
          <a:ln w="12700">
            <a:solidFill>
              <a:srgbClr val="22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703320" y="2423160"/>
            <a:ext cx="2331720" cy="1463040"/>
          </a:xfrm>
          <a:prstGeom prst="roundRect">
            <a:avLst/>
          </a:prstGeom>
          <a:solidFill>
            <a:srgbClr val="3D2B14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794760" y="2803410"/>
            <a:ext cx="2148840" cy="70788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 dirty="0">
                <a:solidFill>
                  <a:srgbClr val="F5A623"/>
                </a:solidFill>
                <a:latin typeface="Roboto"/>
              </a:rPr>
              <a:t>Eagle Nebula</a:t>
            </a:r>
            <a:endParaRPr lang="en-US" sz="2000" b="0" dirty="0">
              <a:solidFill>
                <a:srgbClr val="F5A623"/>
              </a:solidFill>
              <a:latin typeface="Roboto"/>
            </a:endParaRPr>
          </a:p>
          <a:p>
            <a:pPr algn="ctr"/>
            <a:r>
              <a:rPr sz="2000" b="0" dirty="0">
                <a:solidFill>
                  <a:srgbClr val="F5A623"/>
                </a:solidFill>
                <a:latin typeface="Roboto"/>
              </a:rPr>
              <a:t>(M16)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40" y="4114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Roboto"/>
              </a:rPr>
              <a:t>Pillars of Creation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40" y="457200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Roboto"/>
              </a:rPr>
              <a:t>Dense columns of gas where
new stars are born. Webb’s
infrared vision pierces the
dust Hubble couldn’t.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2286000"/>
            <a:ext cx="2606040" cy="3840480"/>
          </a:xfrm>
          <a:prstGeom prst="roundRect">
            <a:avLst/>
          </a:prstGeom>
          <a:solidFill>
            <a:srgbClr val="14253D"/>
          </a:solidFill>
          <a:ln w="12700">
            <a:solidFill>
              <a:srgbClr val="22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537960" y="2423160"/>
            <a:ext cx="2331720" cy="1463040"/>
          </a:xfrm>
          <a:prstGeom prst="roundRect">
            <a:avLst/>
          </a:prstGeom>
          <a:solidFill>
            <a:srgbClr val="14253D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29400" y="2957298"/>
            <a:ext cx="214884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 dirty="0">
                <a:solidFill>
                  <a:srgbClr val="3B82F6"/>
                </a:solidFill>
                <a:latin typeface="Roboto"/>
              </a:rPr>
              <a:t>SMACS 0723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114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Roboto"/>
              </a:rPr>
              <a:t>Deep Field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57200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Roboto"/>
              </a:rPr>
              <a:t>Thousands of galaxies in a
patch of sky the size of
a grain of sand held at
arm’s length.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35440" y="2286000"/>
            <a:ext cx="2606040" cy="3840480"/>
          </a:xfrm>
          <a:prstGeom prst="roundRect">
            <a:avLst/>
          </a:prstGeom>
          <a:solidFill>
            <a:srgbClr val="3D200A"/>
          </a:solidFill>
          <a:ln w="12700">
            <a:solidFill>
              <a:srgbClr val="22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9372600" y="2423160"/>
            <a:ext cx="2331720" cy="1463040"/>
          </a:xfrm>
          <a:prstGeom prst="roundRect">
            <a:avLst/>
          </a:prstGeom>
          <a:solidFill>
            <a:srgbClr val="3D200A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464040" y="2957298"/>
            <a:ext cx="2148840" cy="40011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0" dirty="0">
                <a:solidFill>
                  <a:srgbClr val="F97316"/>
                </a:solidFill>
                <a:latin typeface="Roboto"/>
              </a:rPr>
              <a:t>Messier 104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0" y="4114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Roboto"/>
              </a:rPr>
              <a:t>Sombrero Galaxy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8320" y="457200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Roboto"/>
              </a:rPr>
              <a:t>A majestic spiral galaxy
31 million light-years away.
Webb reveals its glowing
infrastructure of dust.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3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10058400" y="-1097280"/>
            <a:ext cx="3200400" cy="3200400"/>
          </a:xfrm>
          <a:prstGeom prst="ellipse">
            <a:avLst/>
          </a:prstGeom>
          <a:solidFill>
            <a:srgbClr val="1A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-914400" y="5029200"/>
            <a:ext cx="2286000" cy="2286000"/>
          </a:xfrm>
          <a:prstGeom prst="ellipse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2286000" y="365760"/>
            <a:ext cx="73152" cy="73152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326880" y="1005840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772400" y="548640"/>
            <a:ext cx="45720" cy="45720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789920" y="2103120"/>
            <a:ext cx="64008" cy="64008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14400" y="5943600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972800" y="5486400"/>
            <a:ext cx="45720" cy="45720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5029200" y="27432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229600" y="6217920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7280" y="7315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5A623"/>
                </a:solidFill>
                <a:latin typeface="Roboto"/>
              </a:rPr>
              <a:t>IMPACT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1188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Roboto"/>
              </a:rPr>
              <a:t>Webb by the Numbers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286000"/>
            <a:ext cx="2606040" cy="1828800"/>
          </a:xfrm>
          <a:prstGeom prst="roundRect">
            <a:avLst/>
          </a:prstGeom>
          <a:solidFill>
            <a:srgbClr val="141C36"/>
          </a:solidFill>
          <a:ln w="12700">
            <a:solidFill>
              <a:srgbClr val="22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25603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5A623"/>
                </a:solidFill>
                <a:latin typeface="Roboto"/>
              </a:rPr>
              <a:t>1,500+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3375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Roboto"/>
              </a:rPr>
              <a:t>peer-reviewed
scientific papers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66160" y="2286000"/>
            <a:ext cx="2606040" cy="1828800"/>
          </a:xfrm>
          <a:prstGeom prst="roundRect">
            <a:avLst/>
          </a:prstGeom>
          <a:solidFill>
            <a:srgbClr val="141C36"/>
          </a:solidFill>
          <a:ln w="12700">
            <a:solidFill>
              <a:srgbClr val="22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840480" y="25603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3B82F6"/>
                </a:solidFill>
                <a:latin typeface="Roboto"/>
              </a:rPr>
              <a:t>286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33375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Roboto"/>
              </a:rPr>
              <a:t>hours to unfold
the sunshield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2286000"/>
            <a:ext cx="2606040" cy="1828800"/>
          </a:xfrm>
          <a:prstGeom prst="roundRect">
            <a:avLst/>
          </a:prstGeom>
          <a:solidFill>
            <a:srgbClr val="141C36"/>
          </a:solidFill>
          <a:ln w="12700">
            <a:solidFill>
              <a:srgbClr val="22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75120" y="25603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EF4444"/>
                </a:solidFill>
                <a:latin typeface="Roboto"/>
              </a:rPr>
              <a:t>344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3375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Roboto"/>
              </a:rPr>
              <a:t>single-point
failures overcome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35440" y="2286000"/>
            <a:ext cx="2606040" cy="1828800"/>
          </a:xfrm>
          <a:prstGeom prst="roundRect">
            <a:avLst/>
          </a:prstGeom>
          <a:solidFill>
            <a:srgbClr val="141C36"/>
          </a:solidFill>
          <a:ln w="12700">
            <a:solidFill>
              <a:srgbClr val="22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509760" y="25603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93C5FD"/>
                </a:solidFill>
                <a:latin typeface="Roboto"/>
              </a:rPr>
              <a:t>1.5M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333756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Roboto"/>
              </a:rPr>
              <a:t>kilometers from
Earth at L2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389120"/>
            <a:ext cx="2606040" cy="1828800"/>
          </a:xfrm>
          <a:prstGeom prst="roundRect">
            <a:avLst/>
          </a:prstGeom>
          <a:solidFill>
            <a:srgbClr val="141C36"/>
          </a:solidFill>
          <a:ln w="12700">
            <a:solidFill>
              <a:srgbClr val="22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05840" y="466344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7C3AED"/>
                </a:solidFill>
                <a:latin typeface="Roboto"/>
              </a:rPr>
              <a:t>100×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54406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Roboto"/>
              </a:rPr>
              <a:t>more powerful
than Hubble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66160" y="4389120"/>
            <a:ext cx="2606040" cy="1828800"/>
          </a:xfrm>
          <a:prstGeom prst="roundRect">
            <a:avLst/>
          </a:prstGeom>
          <a:solidFill>
            <a:srgbClr val="141C36"/>
          </a:solidFill>
          <a:ln w="12700">
            <a:solidFill>
              <a:srgbClr val="22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840480" y="466344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0B981"/>
                </a:solidFill>
                <a:latin typeface="Roboto"/>
              </a:rPr>
              <a:t>10,000+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54406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Roboto"/>
              </a:rPr>
              <a:t>images released
to the public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4389120"/>
            <a:ext cx="2606040" cy="1828800"/>
          </a:xfrm>
          <a:prstGeom prst="roundRect">
            <a:avLst/>
          </a:prstGeom>
          <a:solidFill>
            <a:srgbClr val="141C36"/>
          </a:solidFill>
          <a:ln w="12700">
            <a:solidFill>
              <a:srgbClr val="22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675120" y="466344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97316"/>
                </a:solidFill>
                <a:latin typeface="Roboto"/>
              </a:rPr>
              <a:t>29.4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54406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Roboto"/>
              </a:rPr>
              <a:t>days to reach
L2 orbit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35440" y="4389120"/>
            <a:ext cx="2606040" cy="1828800"/>
          </a:xfrm>
          <a:prstGeom prst="roundRect">
            <a:avLst/>
          </a:prstGeom>
          <a:solidFill>
            <a:srgbClr val="141C36"/>
          </a:solidFill>
          <a:ln w="12700">
            <a:solidFill>
              <a:srgbClr val="223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509760" y="466344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BBF24"/>
                </a:solidFill>
                <a:latin typeface="Roboto"/>
              </a:rPr>
              <a:t>20+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09760" y="544068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Roboto"/>
              </a:rPr>
              <a:t>countries
collaborated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D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3657600" y="-1828800"/>
            <a:ext cx="9144000" cy="9144000"/>
          </a:xfrm>
          <a:prstGeom prst="ellipse">
            <a:avLst/>
          </a:prstGeom>
          <a:solidFill>
            <a:srgbClr val="15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315200" y="1828800"/>
            <a:ext cx="5486400" cy="5486400"/>
          </a:xfrm>
          <a:prstGeom prst="ellipse">
            <a:avLst/>
          </a:prstGeom>
          <a:solidFill>
            <a:srgbClr val="1C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-1828800" y="2743200"/>
            <a:ext cx="5486400" cy="5486400"/>
          </a:xfrm>
          <a:prstGeom prst="ellipse">
            <a:avLst/>
          </a:prstGeom>
          <a:solidFill>
            <a:srgbClr val="1418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058400" y="-1097280"/>
            <a:ext cx="3200400" cy="3200400"/>
          </a:xfrm>
          <a:prstGeom prst="ellipse">
            <a:avLst/>
          </a:prstGeom>
          <a:solidFill>
            <a:srgbClr val="1A2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-914400" y="5029200"/>
            <a:ext cx="2286000" cy="2286000"/>
          </a:xfrm>
          <a:prstGeom prst="ellipse">
            <a:avLst/>
          </a:prstGeom>
          <a:solidFill>
            <a:srgbClr val="12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2286000" y="365760"/>
            <a:ext cx="73152" cy="73152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326880" y="1005840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772400" y="548640"/>
            <a:ext cx="45720" cy="45720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789920" y="2103120"/>
            <a:ext cx="64008" cy="64008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14400" y="5943600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972800" y="5486400"/>
            <a:ext cx="45720" cy="45720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029200" y="274320"/>
            <a:ext cx="36576" cy="36576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29600" y="6217920"/>
            <a:ext cx="54864" cy="54864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29200" y="2103120"/>
            <a:ext cx="2103120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371600" y="237744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Roboto"/>
              </a:rPr>
              <a:t>"We are going to give humanity
a new view of the cosmos."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36576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5A623"/>
                </a:solidFill>
                <a:latin typeface="Roboto"/>
              </a:rPr>
              <a:t>— Bill Nelson, NASA Administrator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57200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94A3B8"/>
                </a:solidFill>
                <a:latin typeface="Roboto"/>
              </a:rPr>
              <a:t>The James Webb Space Telescope continues to transform our understanding
of the universe, one infrared photon at a time.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5669280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4748B"/>
                </a:solidFill>
                <a:latin typeface="Roboto"/>
              </a:rPr>
              <a:t>Images · Data · Publications:  webbtelescope.org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6126480"/>
            <a:ext cx="7589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Roboto"/>
              </a:rPr>
              <a:t>Credit: NASA / ESA / CSA / STScI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1084</Words>
  <Application>Microsoft Macintosh PowerPoint</Application>
  <PresentationFormat>Widescreen</PresentationFormat>
  <Paragraphs>180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Walter Xin</cp:lastModifiedBy>
  <cp:revision>3</cp:revision>
  <dcterms:created xsi:type="dcterms:W3CDTF">2013-01-27T09:14:16Z</dcterms:created>
  <dcterms:modified xsi:type="dcterms:W3CDTF">2026-02-13T22:04:29Z</dcterms:modified>
  <cp:category/>
</cp:coreProperties>
</file>